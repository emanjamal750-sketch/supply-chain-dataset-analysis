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AAAAAA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AAAAAA"/>
                </a:solidFill>
                <a:latin typeface="Arial"/>
              </a:rPr>
              <a:t>Revenue by Product Category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Category ($M)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4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C4-4933-934C-69919FEB9A03}"/>
              </c:ext>
            </c:extLst>
          </c:dPt>
          <c:dPt>
            <c:idx val="1"/>
            <c:invertIfNegative val="0"/>
            <c:bubble3D val="0"/>
            <c:spPr>
              <a:solidFill>
                <a:srgbClr val="4A4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C4-4933-934C-69919FEB9A03}"/>
              </c:ext>
            </c:extLst>
          </c:dPt>
          <c:dPt>
            <c:idx val="2"/>
            <c:invertIfNegative val="0"/>
            <c:bubble3D val="0"/>
            <c:spPr>
              <a:solidFill>
                <a:srgbClr val="9E9E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C4-4933-934C-69919FEB9A03}"/>
              </c:ext>
            </c:extLst>
          </c:dPt>
          <c:dPt>
            <c:idx val="3"/>
            <c:invertIfNegative val="0"/>
            <c:bubble3D val="0"/>
            <c:spPr>
              <a:solidFill>
                <a:srgbClr val="9E9E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C4-4933-934C-69919FEB9A03}"/>
              </c:ext>
            </c:extLst>
          </c:dPt>
          <c:dPt>
            <c:idx val="4"/>
            <c:invertIfNegative val="0"/>
            <c:bubble3D val="0"/>
            <c:spPr>
              <a:solidFill>
                <a:srgbClr val="6A6A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C4-4933-934C-69919FEB9A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Microwave</c:v>
                </c:pt>
                <c:pt idx="1">
                  <c:v>Oven</c:v>
                </c:pt>
                <c:pt idx="2">
                  <c:v>Rice Cooker</c:v>
                </c:pt>
                <c:pt idx="3">
                  <c:v>Juicer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160</c:v>
                </c:pt>
                <c:pt idx="1">
                  <c:v>149</c:v>
                </c:pt>
                <c:pt idx="2">
                  <c:v>35</c:v>
                </c:pt>
                <c:pt idx="3">
                  <c:v>22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C4-4933-934C-69919FEB9A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2D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9E9E9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Stock-Out Incidents by Product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Stock-Out Incidents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69-4FA7-83C6-D8AFB169ADB6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69-4FA7-83C6-D8AFB169ADB6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69-4FA7-83C6-D8AFB169ADB6}"/>
              </c:ext>
            </c:extLst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69-4FA7-83C6-D8AFB169ADB6}"/>
              </c:ext>
            </c:extLst>
          </c:dPt>
          <c:dPt>
            <c:idx val="4"/>
            <c:invertIfNegative val="0"/>
            <c:bubble3D val="0"/>
            <c:spPr>
              <a:solidFill>
                <a:srgbClr val="F1C4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A69-4FA7-83C6-D8AFB169ADB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Rice Cooker</c:v>
                </c:pt>
                <c:pt idx="1">
                  <c:v>Juicer Blender</c:v>
                </c:pt>
                <c:pt idx="2">
                  <c:v>Electric Kettle</c:v>
                </c:pt>
                <c:pt idx="3">
                  <c:v>Toaster</c:v>
                </c:pt>
                <c:pt idx="4">
                  <c:v>Mixer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A69-4FA7-83C6-D8AFB169AD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2D2D2D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2D2D2D"/>
                </a:solidFill>
                <a:latin typeface="Arial"/>
              </a:rPr>
              <a:t>Revenue Contribution by Category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4158435787631813"/>
          <c:y val="0.46392249749269149"/>
          <c:w val="0.2304461942257218"/>
          <c:h val="0.4271685551501184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2D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9CB-4BF7-B5D1-1238D710BB60}"/>
              </c:ext>
            </c:extLst>
          </c:dPt>
          <c:dPt>
            <c:idx val="1"/>
            <c:bubble3D val="0"/>
            <c:spPr>
              <a:solidFill>
                <a:srgbClr val="4A4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CB-4BF7-B5D1-1238D710BB60}"/>
              </c:ext>
            </c:extLst>
          </c:dPt>
          <c:dPt>
            <c:idx val="2"/>
            <c:bubble3D val="0"/>
            <c:spPr>
              <a:solidFill>
                <a:srgbClr val="9E9E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9CB-4BF7-B5D1-1238D710BB60}"/>
              </c:ext>
            </c:extLst>
          </c:dPt>
          <c:dPt>
            <c:idx val="3"/>
            <c:bubble3D val="0"/>
            <c:spPr>
              <a:solidFill>
                <a:srgbClr val="C8C8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9CB-4BF7-B5D1-1238D710BB60}"/>
              </c:ext>
            </c:extLst>
          </c:dPt>
          <c:dPt>
            <c:idx val="4"/>
            <c:bubble3D val="0"/>
            <c:spPr>
              <a:solidFill>
                <a:srgbClr val="E0E0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9CB-4BF7-B5D1-1238D710BB60}"/>
              </c:ext>
            </c:extLst>
          </c:dPt>
          <c:dLbls>
            <c:dLbl>
              <c:idx val="0"/>
              <c:layout>
                <c:manualLayout>
                  <c:x val="9.8684210526315791E-2"/>
                  <c:y val="-0.1016260162601626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9CB-4BF7-B5D1-1238D710BB60}"/>
                </c:ext>
              </c:extLst>
            </c:dLbl>
            <c:dLbl>
              <c:idx val="1"/>
              <c:layout>
                <c:manualLayout>
                  <c:x val="-3.2894736842105261E-2"/>
                  <c:y val="8.1300813008130079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9CB-4BF7-B5D1-1238D710BB60}"/>
                </c:ext>
              </c:extLst>
            </c:dLbl>
            <c:dLbl>
              <c:idx val="2"/>
              <c:layout>
                <c:manualLayout>
                  <c:x val="-8.0409356725146194E-2"/>
                  <c:y val="-4.0650406504065102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9CB-4BF7-B5D1-1238D710BB60}"/>
                </c:ext>
              </c:extLst>
            </c:dLbl>
            <c:dLbl>
              <c:idx val="3"/>
              <c:layout>
                <c:manualLayout>
                  <c:x val="-5.1169590643274851E-2"/>
                  <c:y val="-6.0975609756097622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CB-4BF7-B5D1-1238D710BB60}"/>
                </c:ext>
              </c:extLst>
            </c:dLbl>
            <c:dLbl>
              <c:idx val="4"/>
              <c:layout>
                <c:manualLayout>
                  <c:x val="-1.0964912280701754E-2"/>
                  <c:y val="-0.11517615176151767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CB-4BF7-B5D1-1238D710BB6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Microwave</c:v>
                </c:pt>
                <c:pt idx="1">
                  <c:v>Oven</c:v>
                </c:pt>
                <c:pt idx="2">
                  <c:v>Rice Cooker</c:v>
                </c:pt>
                <c:pt idx="3">
                  <c:v>Juicer Blender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40</c:v>
                </c:pt>
                <c:pt idx="2">
                  <c:v>9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9CB-4BF7-B5D1-1238D710BB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706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0"/>
            <a:ext cx="3200400" cy="3657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291840"/>
            <a:ext cx="3200400" cy="3657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502920"/>
            <a:ext cx="1005840" cy="1005840"/>
          </a:xfrm>
          <a:prstGeom prst="ellipse">
            <a:avLst/>
          </a:prstGeom>
          <a:solidFill>
            <a:srgbClr val="2D2D2D"/>
          </a:solidFill>
          <a:ln w="254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80160" y="685800"/>
            <a:ext cx="640080" cy="64008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1828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" y="2286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NINJAS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640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300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 ELECTRONICS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11887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ANALYSIS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Critical Business Problems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Inventory &amp; Sales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2971800"/>
            <a:ext cx="5303520" cy="2743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Data Analytics  |  Graduation Project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4069080"/>
            <a:ext cx="5943600" cy="1074420"/>
          </a:xfrm>
          <a:prstGeom prst="rect">
            <a:avLst/>
          </a:prstGeom>
          <a:solidFill>
            <a:srgbClr val="1E1E1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414K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0060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$376M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1792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35240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3524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67AE258-81D8-176C-1AE3-ED85CECBB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99" y="0"/>
            <a:ext cx="1789022" cy="1673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Ninjas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560320" cy="548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34440" y="1417320"/>
            <a:ext cx="822960" cy="822960"/>
          </a:xfrm>
          <a:prstGeom prst="ellipse">
            <a:avLst/>
          </a:prstGeom>
          <a:solidFill>
            <a:srgbClr val="2D2D2D"/>
          </a:solidFill>
          <a:ln w="254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Nadeen Mohamed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&amp; Project Lead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2560320" cy="548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69080" y="1417320"/>
            <a:ext cx="822960" cy="822960"/>
          </a:xfrm>
          <a:prstGeom prst="ellipse">
            <a:avLst/>
          </a:prstGeom>
          <a:solidFill>
            <a:srgbClr val="2D2D2D"/>
          </a:solidFill>
          <a:ln w="254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690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Mansour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514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Developer &amp; BI Specialist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2560320" cy="548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03720" y="1417320"/>
            <a:ext cx="822960" cy="822960"/>
          </a:xfrm>
          <a:prstGeom prst="ellipse">
            <a:avLst/>
          </a:prstGeom>
          <a:solidFill>
            <a:srgbClr val="2D2D2D"/>
          </a:solidFill>
          <a:ln w="254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Gamal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2514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Expert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2560320" cy="548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234440" y="3108960"/>
            <a:ext cx="822960" cy="822960"/>
          </a:xfrm>
          <a:prstGeom prst="ellipse">
            <a:avLst/>
          </a:prstGeom>
          <a:solidFill>
            <a:srgbClr val="2D2D2D"/>
          </a:solidFill>
          <a:ln w="254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3444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Abdallah Abdelmaksoud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Analysis Lead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297180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0" y="2971800"/>
            <a:ext cx="2560320" cy="548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069080" y="3108960"/>
            <a:ext cx="822960" cy="822960"/>
          </a:xfrm>
          <a:prstGeom prst="ellipse">
            <a:avLst/>
          </a:prstGeom>
          <a:solidFill>
            <a:srgbClr val="2D2D2D"/>
          </a:solidFill>
          <a:ln w="254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6908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291840" y="3977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Fady Emad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4206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Sales Analyst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0292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996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background &amp; project goals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114800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50292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1031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4140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analysis approach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50292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0175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284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stock-out risk on best sellers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114800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50292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8404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9319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2428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over-concentration risk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1097280"/>
            <a:ext cx="4114800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1097280"/>
            <a:ext cx="50292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0972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1887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 &amp; Analysis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14996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011680"/>
            <a:ext cx="4114800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011680"/>
            <a:ext cx="50292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011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1031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24140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 plans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926080"/>
            <a:ext cx="4114800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2926080"/>
            <a:ext cx="50292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0175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33284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improvements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858768"/>
            <a:ext cx="4114800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46320" y="3840480"/>
            <a:ext cx="50292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38404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39319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40680" y="42428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open discussion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Electronics Business Intelligence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electronics company operating across 3 branches analyzes its sales, inventory, and stock data spanning June to December 2024. The goal is to identify critical operational and business problems using structured SQL Server-based data analysis, enabling smarter inventory management and revenue optimization.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2651760" cy="548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80160" y="2395728"/>
            <a:ext cx="822960" cy="822960"/>
          </a:xfrm>
          <a:prstGeom prst="ellipse">
            <a:avLst/>
          </a:prstGeom>
          <a:solidFill>
            <a:srgbClr val="2D2D2D"/>
          </a:solidFill>
          <a:ln w="1905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23957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45720" cy="22860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6850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50792"/>
            <a:ext cx="45720" cy="22860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0325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Dataset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98264"/>
            <a:ext cx="45720" cy="22860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43799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Dataset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28600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2286000"/>
            <a:ext cx="2651760" cy="548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0" y="2395728"/>
            <a:ext cx="822960" cy="822960"/>
          </a:xfrm>
          <a:prstGeom prst="ellipse">
            <a:avLst/>
          </a:prstGeom>
          <a:solidFill>
            <a:srgbClr val="2D2D2D"/>
          </a:solidFill>
          <a:ln w="1905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0" y="23957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9184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3703320"/>
            <a:ext cx="45720" cy="22860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20440" y="36850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4050792"/>
            <a:ext cx="45720" cy="22860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0440" y="40325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4398264"/>
            <a:ext cx="45720" cy="22860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20440" y="43799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Reporting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28600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2286000"/>
            <a:ext cx="2651760" cy="548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49440" y="2395728"/>
            <a:ext cx="822960" cy="822960"/>
          </a:xfrm>
          <a:prstGeom prst="ellipse">
            <a:avLst/>
          </a:prstGeom>
          <a:solidFill>
            <a:srgbClr val="2D2D2D"/>
          </a:solidFill>
          <a:ln w="1905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49440" y="23957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2648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17920" y="3703320"/>
            <a:ext cx="45720" cy="22860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55080" y="36850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Stockout Risk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4050792"/>
            <a:ext cx="45720" cy="22860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55080" y="40325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Revenue Mix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4398264"/>
            <a:ext cx="45720" cy="22860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55080" y="43799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SUMMARY  &amp;  KEY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2024 – Dec 2024  |  3 Branches  |  SQL Server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544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54480" cy="457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1579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in portfolio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1005840"/>
            <a:ext cx="15544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1005840"/>
            <a:ext cx="1554480" cy="457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1168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414,831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1920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21579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Jun–Dec 2024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49040" y="1005840"/>
            <a:ext cx="15544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49040" y="1005840"/>
            <a:ext cx="1554480" cy="457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4904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$376.8M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49040" y="1920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21579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 value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0" y="1005840"/>
            <a:ext cx="15544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0" y="1005840"/>
            <a:ext cx="1554480" cy="457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5,582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0" y="1920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Units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21579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inventory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23760" y="1005840"/>
            <a:ext cx="15544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23760" y="1005840"/>
            <a:ext cx="1554480" cy="457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2376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💎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$4.75M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0" y="1920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Value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23760" y="21579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2606040"/>
            <a:ext cx="19659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26517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47472" y="3044952"/>
            <a:ext cx="1819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Selling Product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32918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Cooker 1.0L (Silver)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441448" y="2606040"/>
            <a:ext cx="19659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41448" y="26517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2514600" y="3044952"/>
            <a:ext cx="1819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487168" y="32918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Bellis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08576" y="2606040"/>
            <a:ext cx="19659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08576" y="26517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681728" y="3044952"/>
            <a:ext cx="1819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Sales Day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54296" y="32918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30, 2024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775704" y="2606040"/>
            <a:ext cx="19659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75704" y="26517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848856" y="3044952"/>
            <a:ext cx="1819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21424" y="32918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Products</a:t>
            </a:r>
            <a:endParaRPr lang="en-US" sz="1200" dirty="0"/>
          </a:p>
        </p:txBody>
      </p:sp>
      <p:graphicFrame>
        <p:nvGraphicFramePr>
          <p:cNvPr id="51" name="Chart 0"/>
          <p:cNvGraphicFramePr/>
          <p:nvPr/>
        </p:nvGraphicFramePr>
        <p:xfrm>
          <a:off x="274320" y="3840480"/>
          <a:ext cx="859536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BUSINESS PROBLEM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Chronic Stock-Out Risk on Best-Selling Products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3268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Availability Crisis  |  Lost Revenue Opportunity  |  Customer Dissatisfaction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286000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7432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purchase orders 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stock balance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880111050"/>
              </p:ext>
            </p:extLst>
          </p:nvPr>
        </p:nvGraphicFramePr>
        <p:xfrm>
          <a:off x="2697480" y="1325880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6858000" y="1325880"/>
            <a:ext cx="20116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0" y="132588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49440" y="14081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49440" y="162763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safety stock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949440" y="1801368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reorder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49440" y="197510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 spikes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8000" y="233172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858000" y="2331720"/>
            <a:ext cx="201168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49440" y="24140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49440" y="263347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Lost sales revenue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949440" y="2807208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churn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949440" y="298094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 damage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8595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54864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end at zero stock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65176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265176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fully OOS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5488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5,582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475488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remaining total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85800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Jun–Dec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685800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BUSINESS PROBLEM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4297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Over-Concentration Risk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9611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Dependency  |  Revenue Volatility  |  Market Vulnerability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103120" cy="1645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7432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+ Oven only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764176383"/>
              </p:ext>
            </p:extLst>
          </p:nvPr>
        </p:nvGraphicFramePr>
        <p:xfrm>
          <a:off x="2499360" y="1293876"/>
          <a:ext cx="34747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6126480" y="13258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26480" y="1325880"/>
            <a:ext cx="27432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0936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1764792"/>
            <a:ext cx="146304" cy="14630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3796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disruption halts total revenue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09360" y="2084832"/>
            <a:ext cx="146304" cy="14630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3796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 leaves no backup income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09360" y="2404872"/>
            <a:ext cx="146304" cy="14630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37960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pricing wars squeeze margins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309360" y="2724912"/>
            <a:ext cx="146304" cy="14630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37960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amplifies volatility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3291840"/>
            <a:ext cx="8595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 BY CATEGORY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3675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3703320"/>
            <a:ext cx="3840480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035040" y="3675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$160M (42%)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39044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103120" y="3931920"/>
            <a:ext cx="3474720" cy="16459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669280" y="3904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$149M (40%)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41330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Cooker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103120" y="4160520"/>
            <a:ext cx="822960" cy="16459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017520" y="41330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$35M (9%)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4361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Juicer Blender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103120" y="4389120"/>
            <a:ext cx="502920" cy="164592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697480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$22M (6%)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4590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4617720"/>
            <a:ext cx="256032" cy="1645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450592" y="4590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$11M (3%)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RECOMMENDATIONS  —  Problem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Solutions: Inventory &amp; Stock Management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02920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Reorder Quantities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81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purchase order volumes for high-demanded  products like Rice Cookers and Juicer Blenders based on historical sales demanding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2011680"/>
            <a:ext cx="1371600" cy="182880"/>
          </a:xfrm>
          <a:prstGeom prst="rect">
            <a:avLst/>
          </a:prstGeom>
          <a:solidFill>
            <a:srgbClr val="EAF9F0"/>
          </a:solidFill>
          <a:ln w="63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Stock availability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62559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21024"/>
            <a:ext cx="502920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621024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712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0050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statistical forecasting models using 7-month sales history to anticipate demand spikes and seasonal peaks.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8680" y="4535424"/>
            <a:ext cx="1371600" cy="182880"/>
          </a:xfrm>
          <a:prstGeom prst="rect">
            <a:avLst/>
          </a:prstGeom>
          <a:solidFill>
            <a:srgbClr val="EAF9F0"/>
          </a:solidFill>
          <a:ln w="63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535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Forecast accuracy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30886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00990" y="2331720"/>
            <a:ext cx="502920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pPr algn="ctr"/>
            <a:endParaRPr lang="en-US" b="1" dirty="0">
              <a:solidFill>
                <a:srgbClr val="FFFFFF"/>
              </a:solidFill>
              <a:latin typeface="Arial Black" pitchFamily="34" charset="0"/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  <a:latin typeface="Arial Black" pitchFamily="34" charset="0"/>
              </a:rPr>
              <a:t>02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09160" y="1097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822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Policy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26289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safety stock buffer (minimum 2-week supply) for all A-class products to absorb unexpected demand requests 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2011680"/>
            <a:ext cx="1371600" cy="182880"/>
          </a:xfrm>
          <a:prstGeom prst="rect">
            <a:avLst/>
          </a:prstGeom>
          <a:solidFill>
            <a:srgbClr val="EAF9F0"/>
          </a:solidFill>
          <a:ln w="63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0352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Service level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17720" y="111099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03420" y="1104138"/>
            <a:ext cx="502920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2539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Inventory Analytics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28260" y="13167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SQL-driven predictive analytics and Tableau dashboards to monitor stock health in real-time across all 3 branches.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28260" y="1826514"/>
            <a:ext cx="1371600" cy="182880"/>
          </a:xfrm>
          <a:prstGeom prst="rect">
            <a:avLst/>
          </a:prstGeom>
          <a:solidFill>
            <a:srgbClr val="EAF9F0"/>
          </a:solidFill>
          <a:ln w="63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79670" y="184023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Visibility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RECOMMENDATIONS  —  Problem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Solutions: Revenue Diversification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02920" cy="1143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Revenue Streams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81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dependency on Microwave and Oven categories by actively growing contribution from Rice Cookers, Juicers, and other product lines.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2011680"/>
            <a:ext cx="1371600" cy="182880"/>
          </a:xfrm>
          <a:prstGeom prst="rect">
            <a:avLst/>
          </a:prstGeom>
          <a:solidFill>
            <a:srgbClr val="E8F4F8"/>
          </a:solidFill>
          <a:ln w="63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Financial risk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35915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502920" cy="11430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359152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Underperforming Categories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743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promotional campaigns for lower-performing categories such as Toasters, Electric Kettles, and Mixers to boost their revenue share.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" y="3273552"/>
            <a:ext cx="1371600" cy="182880"/>
          </a:xfrm>
          <a:prstGeom prst="rect">
            <a:avLst/>
          </a:prstGeom>
          <a:solidFill>
            <a:srgbClr val="E8F4F8"/>
          </a:solidFill>
          <a:ln w="635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2735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Category balance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21024"/>
            <a:ext cx="502920" cy="11430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621024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712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Rice Cookers &amp; Juicers Marketing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0050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digital and in-store marketing for top-selling low-revenue products to convert high-unit volume into higher average selling prices.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8680" y="4535424"/>
            <a:ext cx="1371600" cy="182880"/>
          </a:xfrm>
          <a:prstGeom prst="rect">
            <a:avLst/>
          </a:prstGeom>
          <a:solidFill>
            <a:srgbClr val="E8F4F8"/>
          </a:solidFill>
          <a:ln w="635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535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Revenue per unit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10972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502920" cy="11430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1097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0352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Offers &amp; Cross-Selling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1481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bundled product packages (e.g., Oven + Juicer) and cross-selling promotions to organically distribute revenue across categories.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2011680"/>
            <a:ext cx="1371600" cy="182880"/>
          </a:xfrm>
          <a:prstGeom prst="rect">
            <a:avLst/>
          </a:prstGeom>
          <a:solidFill>
            <a:srgbClr val="E8F4F8"/>
          </a:solidFill>
          <a:ln w="63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0352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Basket value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235915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2359152"/>
            <a:ext cx="502920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2359152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0352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Product Portfolio Balance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2743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portfolio review to identify and introduce new product lines that align with customer demand and reduce category concentration risk.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03520" y="3273552"/>
            <a:ext cx="1371600" cy="182880"/>
          </a:xfrm>
          <a:prstGeom prst="rect">
            <a:avLst/>
          </a:prstGeom>
          <a:solidFill>
            <a:srgbClr val="E8F4F8"/>
          </a:solidFill>
          <a:ln w="63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03520" y="32735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Market resilience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|  Data Cleaning  |  Analytics Pipeline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16736"/>
            <a:ext cx="640080" cy="64008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2070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4996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Sales, Products &amp; Stock datasets from retail ERP system for Jun–Dec 2024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95728"/>
            <a:ext cx="420624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615184"/>
            <a:ext cx="640080" cy="64008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5054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79806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handled nulls, standardized date formats and product naming conventions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94176"/>
            <a:ext cx="420624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913632"/>
            <a:ext cx="640080" cy="64008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8039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09651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SQL GROUP BY and aggregate functions for revenue, units, and stock calculations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420624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92040" y="1316736"/>
            <a:ext cx="640080" cy="64008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316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12070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14996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stock-out rates, reorder points, and lead-time gaps using SQL subqueries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395728"/>
            <a:ext cx="420624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92040" y="2615184"/>
            <a:ext cx="640080" cy="64008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69280" y="25054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0" y="279806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category-level revenue contribution and concentration metrics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94176"/>
            <a:ext cx="420624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92040" y="3913632"/>
            <a:ext cx="640080" cy="64008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69280" y="38039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0" y="409651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Tableau dashboards for products, sales trends, and stock health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Path Forward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2618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Crisis Identified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1572768"/>
            <a:ext cx="64008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15727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purchase orders end with zero stock balance. Best-selling products like Rice Cookers and Juicer Blenders suffer from chronic stockout, directly causing lost sales and customer attrition.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77840" y="12618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Dependency Risk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572768"/>
            <a:ext cx="64008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7840" y="15727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892040" y="184708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total revenue is concentrated in just two product categories — Microwave and Oven. This creates extreme business sensitivity to any supply, demand, or competitive disruption.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43000" y="31821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" y="3493008"/>
            <a:ext cx="640080" cy="16459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34930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376732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analysis across 414,831 units sold and $376M revenue provides the foundation for better inventory planning, demand forecasting, and category strategy.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77840" y="31821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 to Improvement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577840" y="3493008"/>
            <a:ext cx="640080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77840" y="34930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92040" y="376732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implementing safety stock policies, automated reordering, revenue diversification, and cross-category promotions, the business can significantly improve performance and flexibility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34440" y="640080"/>
            <a:ext cx="1371600" cy="1371600"/>
          </a:xfrm>
          <a:prstGeom prst="ellipse">
            <a:avLst/>
          </a:prstGeom>
          <a:solidFill>
            <a:srgbClr val="2D2D2D"/>
          </a:solidFill>
          <a:ln w="381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17320" y="822960"/>
            <a:ext cx="1005840" cy="1005840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" y="2194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 NINJAS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2377440" cy="3657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2834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Electronics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|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" y="3931920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Nadeen Mohamed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" y="4142232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Mansour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" y="4352544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Gamal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" y="4562856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Abdallah Abdelmaksoud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" y="4773168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Fady Emad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0" y="6400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023360" y="1554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YOU!</a:t>
            </a:r>
            <a:endParaRPr lang="en-US" sz="7200" dirty="0"/>
          </a:p>
        </p:txBody>
      </p:sp>
      <p:sp>
        <p:nvSpPr>
          <p:cNvPr id="17" name="Shape 15"/>
          <p:cNvSpPr/>
          <p:nvPr/>
        </p:nvSpPr>
        <p:spPr>
          <a:xfrm>
            <a:off x="4023360" y="2651760"/>
            <a:ext cx="4846320" cy="3657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0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b="1" kern="0" spc="300" dirty="0">
                <a:solidFill>
                  <a:srgbClr val="9E9E9E"/>
                </a:solidFill>
                <a:latin typeface="Arial Black" pitchFamily="34" charset="0"/>
              </a:rPr>
              <a:t>We are so pleased for studying this track with DEPI .</a:t>
            </a:r>
          </a:p>
        </p:txBody>
      </p:sp>
      <p:sp>
        <p:nvSpPr>
          <p:cNvPr id="19" name="Text 17"/>
          <p:cNvSpPr/>
          <p:nvPr/>
        </p:nvSpPr>
        <p:spPr>
          <a:xfrm>
            <a:off x="4023360" y="3337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23360" y="4114800"/>
            <a:ext cx="484632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0" y="4178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Tableau Dashboard: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4407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public.tableau.com/app/profile/nadeen.mohamed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/viz/dashboard_17786928310780/productsDashboard</a:t>
            </a:r>
            <a:endParaRPr lang="en-US" sz="8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2CBACDB-A931-74CA-E1D9-FC58B2EB9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9" y="32004"/>
            <a:ext cx="2238721" cy="2093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1072</Words>
  <Application>Microsoft Office PowerPoint</Application>
  <PresentationFormat>On-screen Show (16:9)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Electronics Data Analysis - Silver Ninjas</dc:title>
  <dc:subject>PptxGenJS Presentation</dc:subject>
  <dc:creator>PptxGenJS</dc:creator>
  <cp:lastModifiedBy>Abdallah A-MAHMOUD</cp:lastModifiedBy>
  <cp:revision>8</cp:revision>
  <dcterms:created xsi:type="dcterms:W3CDTF">2026-05-16T22:37:33Z</dcterms:created>
  <dcterms:modified xsi:type="dcterms:W3CDTF">2026-05-16T23:22:30Z</dcterms:modified>
</cp:coreProperties>
</file>